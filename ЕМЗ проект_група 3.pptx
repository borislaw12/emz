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6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Aldhabi" panose="01000000000000000000" pitchFamily="2" charset="-78"/>
      <p:regular r:id="rId13"/>
    </p:embeddedFont>
    <p:embeddedFont>
      <p:font typeface="Amasis MT Pro" panose="02040504050005020304" pitchFamily="18" charset="0"/>
      <p:regular r:id="rId14"/>
      <p:bold r:id="rId15"/>
      <p:italic r:id="rId16"/>
      <p:boldItalic r:id="rId17"/>
    </p:embeddedFont>
    <p:embeddedFont>
      <p:font typeface="Century Gothic" panose="020B050202020202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SLIDES_API82346333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SLIDES_API82346333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SLIDES_API823463334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SLIDES_API823463334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SLIDES_API823463334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SLIDES_API823463334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SLIDES_API823463334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SLIDES_API823463334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SLIDES_API823463334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SLIDES_API823463334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SLIDES_API823463334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SLIDES_API823463334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SLIDES_API823463334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SLIDES_API823463334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SLIDES_API823463334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SLIDES_API823463334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1cf9c214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1cf9c214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SLIDES_API823463334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SLIDES_API823463334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457201"/>
            <a:ext cx="6507167" cy="2400300"/>
          </a:xfrm>
        </p:spPr>
        <p:txBody>
          <a:bodyPr anchor="b">
            <a:normAutofit/>
          </a:bodyPr>
          <a:lstStyle>
            <a:lvl1pPr algn="ctr">
              <a:defRPr sz="36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0"/>
            <a:ext cx="6507167" cy="1428750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8094536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3430641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3260" y="2481436"/>
            <a:ext cx="6515100" cy="1101600"/>
          </a:xfrm>
        </p:spPr>
        <p:txBody>
          <a:bodyPr anchor="b"/>
          <a:lstStyle>
            <a:lvl1pPr algn="r">
              <a:defRPr sz="3000" b="0" cap="all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3259" y="3583036"/>
            <a:ext cx="651510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4726806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9" y="2000250"/>
            <a:ext cx="3657600" cy="234315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7959" y="2000250"/>
            <a:ext cx="3657600" cy="234315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820731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1961" y="1993900"/>
            <a:ext cx="3441698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9" y="2432447"/>
            <a:ext cx="3657600" cy="1910953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32350" y="2000250"/>
            <a:ext cx="345321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7959" y="2432447"/>
            <a:ext cx="3657601" cy="1910953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568657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3887080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3139074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200150"/>
            <a:ext cx="2661841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7859" y="457201"/>
            <a:ext cx="4457701" cy="3886200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28850"/>
            <a:ext cx="2661841" cy="137160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3670502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1200150"/>
            <a:ext cx="4000501" cy="102870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75300" y="-13716"/>
            <a:ext cx="2457449" cy="517779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28850"/>
            <a:ext cx="4000501" cy="1371600"/>
          </a:xfrm>
        </p:spPr>
        <p:txBody>
          <a:bodyPr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9409" y="4412457"/>
            <a:ext cx="685800" cy="273844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56059" y="4412457"/>
            <a:ext cx="3829050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56960" y="4412457"/>
            <a:ext cx="241925" cy="273844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2347505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 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3549649"/>
            <a:ext cx="7429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847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bg-BG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60" y="3974702"/>
            <a:ext cx="7429500" cy="370284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4530554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лавие и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1"/>
            <a:ext cx="7429499" cy="2343149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2770857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27459" y="59011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457201"/>
            <a:ext cx="6972299" cy="2057399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4600"/>
            <a:ext cx="6629402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6704599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2481436"/>
            <a:ext cx="7429500" cy="110160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583036"/>
            <a:ext cx="7429501" cy="6453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5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13399325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ичка с име на цита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627459" y="590118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8359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457201"/>
            <a:ext cx="6972299" cy="2057399"/>
          </a:xfrm>
        </p:spPr>
        <p:txBody>
          <a:bodyPr anchor="ctr">
            <a:normAutofit/>
          </a:bodyPr>
          <a:lstStyle>
            <a:lvl1pPr algn="l">
              <a:defRPr sz="24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56059" y="2914650"/>
            <a:ext cx="7429500" cy="6667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581400"/>
            <a:ext cx="7429500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8873068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или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457201"/>
            <a:ext cx="7429499" cy="20573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56059" y="2628900"/>
            <a:ext cx="74295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3257550"/>
            <a:ext cx="7429500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0785102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4024828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673" y="457200"/>
            <a:ext cx="1657886" cy="3886201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9" y="457200"/>
            <a:ext cx="5657850" cy="3886200"/>
          </a:xfrm>
        </p:spPr>
        <p:txBody>
          <a:bodyPr vert="eaVert" anchor="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41178170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solidFill>
          <a:schemeClr val="dk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4"/>
          <p:cNvSpPr txBox="1">
            <a:spLocks noGrp="1"/>
          </p:cNvSpPr>
          <p:nvPr>
            <p:ph type="sldNum" idx="12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463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457200"/>
            <a:ext cx="7429499" cy="14287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000250"/>
            <a:ext cx="7429499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28209" y="4412457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4412457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10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836775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  <p:sldLayoutId id="2147483714" r:id="rId18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4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5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3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0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105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100000"/>
        <a:buFont typeface="Arial"/>
        <a:buChar char="•"/>
        <a:defRPr sz="9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</a:pPr>
            <a:r>
              <a:rPr lang="en" dirty="0">
                <a:latin typeface="Amasis MT Pro" panose="020F0502020204030204" pitchFamily="18" charset="0"/>
                <a:cs typeface="Aldhabi" panose="01000000000000000000" pitchFamily="2" charset="-78"/>
              </a:rPr>
              <a:t>Система за управление на подвижно огледало</a:t>
            </a:r>
            <a:endParaRPr dirty="0">
              <a:latin typeface="Amasis MT Pro" panose="02040504050005020304" pitchFamily="18" charset="0"/>
              <a:cs typeface="Aldhabi" panose="01000000000000000000" pitchFamily="2" charset="-78"/>
            </a:endParaRPr>
          </a:p>
        </p:txBody>
      </p:sp>
      <p:sp>
        <p:nvSpPr>
          <p:cNvPr id="129" name="Google Shape;129;p13"/>
          <p:cNvSpPr txBox="1">
            <a:spLocks noGrp="1"/>
          </p:cNvSpPr>
          <p:nvPr>
            <p:ph type="subTitle" idx="1"/>
          </p:nvPr>
        </p:nvSpPr>
        <p:spPr>
          <a:xfrm>
            <a:off x="-52039" y="3688199"/>
            <a:ext cx="4833302" cy="139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sz="1400" dirty="0">
                <a:latin typeface="Amasis MT Pro" panose="020F0502020204030204" pitchFamily="18" charset="0"/>
                <a:cs typeface="Aldhabi" panose="01000000000000000000" pitchFamily="2" charset="-78"/>
              </a:rPr>
              <a:t>Изготвен от:       Борислав Байчев </a:t>
            </a:r>
            <a:r>
              <a:rPr lang="bg-BG" sz="1400" dirty="0">
                <a:cs typeface="Aldhabi" panose="01000000000000000000" pitchFamily="2" charset="-78"/>
              </a:rPr>
              <a:t>№ </a:t>
            </a:r>
            <a:r>
              <a:rPr lang="bg-BG" sz="1400" dirty="0">
                <a:latin typeface="Amasis MT Pro" panose="020F0502020204030204" pitchFamily="18" charset="0"/>
                <a:cs typeface="Aldhabi" panose="01000000000000000000" pitchFamily="2" charset="-78"/>
              </a:rPr>
              <a:t>941222011</a:t>
            </a:r>
            <a:endParaRPr sz="1400" dirty="0">
              <a:latin typeface="Amasis MT Pro" panose="02040504050005020304" pitchFamily="18" charset="0"/>
              <a:cs typeface="Aldhabi" panose="01000000000000000000" pitchFamily="2" charset="-78"/>
            </a:endParaRPr>
          </a:p>
          <a:p>
            <a:pPr lvl="0"/>
            <a:r>
              <a:rPr lang="bg-BG" sz="1400" dirty="0">
                <a:cs typeface="Aldhabi" panose="01000000000000000000" pitchFamily="2" charset="-78"/>
              </a:rPr>
              <a:t>                                 </a:t>
            </a:r>
            <a:r>
              <a:rPr lang="bg-BG" sz="1400" dirty="0">
                <a:latin typeface="Amasis MT Pro" panose="020F0502020204030204" pitchFamily="18" charset="0"/>
                <a:cs typeface="Aldhabi" panose="01000000000000000000" pitchFamily="2" charset="-78"/>
              </a:rPr>
              <a:t>Александър Атанасов </a:t>
            </a:r>
            <a:r>
              <a:rPr lang="bg-BG" sz="1400" dirty="0">
                <a:cs typeface="Aldhabi" panose="01000000000000000000" pitchFamily="2" charset="-78"/>
              </a:rPr>
              <a:t>№ </a:t>
            </a:r>
            <a:r>
              <a:rPr lang="bg-BG" sz="1400" dirty="0">
                <a:latin typeface="Amasis MT Pro" panose="020F0502020204030204" pitchFamily="18" charset="0"/>
                <a:cs typeface="Aldhabi" panose="01000000000000000000" pitchFamily="2" charset="-78"/>
              </a:rPr>
              <a:t>941222021</a:t>
            </a:r>
            <a:endParaRPr sz="1400" dirty="0">
              <a:latin typeface="Amasis MT Pro" panose="02040504050005020304" pitchFamily="18" charset="0"/>
              <a:cs typeface="Aldhabi" panose="01000000000000000000" pitchFamily="2" charset="-78"/>
            </a:endParaRPr>
          </a:p>
          <a:p>
            <a:pPr lvl="0"/>
            <a:r>
              <a:rPr lang="bg-BG" sz="1400" dirty="0">
                <a:cs typeface="Aldhabi" panose="01000000000000000000" pitchFamily="2" charset="-78"/>
              </a:rPr>
              <a:t>                      </a:t>
            </a:r>
            <a:r>
              <a:rPr lang="bg-BG" sz="1400" dirty="0">
                <a:latin typeface="Amasis MT Pro" panose="020F0502020204030204" pitchFamily="18" charset="0"/>
                <a:cs typeface="Aldhabi" panose="01000000000000000000" pitchFamily="2" charset="-78"/>
              </a:rPr>
              <a:t>Цветан Цветанов </a:t>
            </a:r>
            <a:r>
              <a:rPr lang="bg-BG" sz="1400" dirty="0">
                <a:cs typeface="Aldhabi" panose="01000000000000000000" pitchFamily="2" charset="-78"/>
              </a:rPr>
              <a:t>№ </a:t>
            </a:r>
            <a:r>
              <a:rPr lang="bg-BG" sz="1400" dirty="0">
                <a:latin typeface="Amasis MT Pro" panose="020F0502020204030204" pitchFamily="18" charset="0"/>
                <a:cs typeface="Aldhabi" panose="01000000000000000000" pitchFamily="2" charset="-78"/>
              </a:rPr>
              <a:t>9412220</a:t>
            </a:r>
            <a:endParaRPr sz="1400" dirty="0">
              <a:latin typeface="Amasis MT Pro" panose="02040504050005020304" pitchFamily="18" charset="0"/>
              <a:cs typeface="Aldhabi" panose="01000000000000000000" pitchFamily="2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masis MT Pro" panose="02040504050005020304" pitchFamily="18" charset="0"/>
              </a:rPr>
              <a:t>Цел на проекта</a:t>
            </a:r>
            <a:endParaRPr dirty="0">
              <a:latin typeface="Amasis MT Pro" panose="02040504050005020304" pitchFamily="18" charset="0"/>
            </a:endParaRPr>
          </a:p>
        </p:txBody>
      </p:sp>
      <p:sp>
        <p:nvSpPr>
          <p:cNvPr id="135" name="Google Shape;135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• </a:t>
            </a:r>
            <a:r>
              <a:rPr lang="en" dirty="0">
                <a:latin typeface="Amasis MT Pro" panose="02040504050005020304" pitchFamily="18" charset="0"/>
              </a:rPr>
              <a:t>Създаване на система за </a:t>
            </a:r>
            <a:r>
              <a:rPr lang="bg-BG" dirty="0">
                <a:latin typeface="Amasis MT Pro" panose="02040504050005020304" pitchFamily="18" charset="0"/>
              </a:rPr>
              <a:t>управление</a:t>
            </a:r>
            <a:r>
              <a:rPr lang="en" dirty="0">
                <a:latin typeface="Amasis MT Pro" panose="02040504050005020304" pitchFamily="18" charset="0"/>
              </a:rPr>
              <a:t> на огледало</a:t>
            </a:r>
            <a:r>
              <a:rPr lang="bg-BG" dirty="0">
                <a:latin typeface="Amasis MT Pro" panose="02040504050005020304" pitchFamily="18" charset="0"/>
              </a:rPr>
              <a:t>то</a:t>
            </a:r>
            <a:r>
              <a:rPr lang="en" dirty="0">
                <a:latin typeface="Amasis MT Pro" panose="02040504050005020304" pitchFamily="18" charset="0"/>
              </a:rPr>
              <a:t>.</a:t>
            </a:r>
            <a:endParaRPr dirty="0">
              <a:latin typeface="Amasis MT Pro" panose="02040504050005020304" pitchFamily="18" charset="0"/>
            </a:endParaRPr>
          </a:p>
          <a:p>
            <a:pPr marL="0" lvl="0" indent="0">
              <a:spcBef>
                <a:spcPts val="1200"/>
              </a:spcBef>
              <a:buNone/>
            </a:pPr>
            <a:r>
              <a:rPr lang="en" dirty="0">
                <a:latin typeface="Amasis MT Pro" panose="02040504050005020304" pitchFamily="18" charset="0"/>
              </a:rPr>
              <a:t>• Управление чрез бутони</a:t>
            </a:r>
            <a:r>
              <a:rPr lang="bg-BG" dirty="0">
                <a:latin typeface="Amasis MT Pro" panose="02040504050005020304" pitchFamily="18" charset="0"/>
              </a:rPr>
              <a:t> по </a:t>
            </a:r>
            <a:r>
              <a:rPr lang="en" dirty="0">
                <a:latin typeface="Amasis MT Pro" panose="02040504050005020304" pitchFamily="18" charset="0"/>
              </a:rPr>
              <a:t>ос</a:t>
            </a:r>
            <a:r>
              <a:rPr lang="bg-BG" dirty="0" err="1">
                <a:latin typeface="Amasis MT Pro" panose="02040504050005020304" pitchFamily="18" charset="0"/>
              </a:rPr>
              <a:t>ите</a:t>
            </a:r>
            <a:r>
              <a:rPr lang="bg-BG" dirty="0">
                <a:latin typeface="Amasis MT Pro" panose="02040504050005020304" pitchFamily="18" charset="0"/>
              </a:rPr>
              <a:t> (Х, У)</a:t>
            </a:r>
            <a:r>
              <a:rPr lang="en" dirty="0">
                <a:latin typeface="Amasis MT Pro" panose="02040504050005020304" pitchFamily="18" charset="0"/>
              </a:rPr>
              <a:t>.</a:t>
            </a:r>
            <a:endParaRPr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latin typeface="Amasis MT Pro" panose="02040504050005020304" pitchFamily="18" charset="0"/>
              </a:rPr>
              <a:t>• </a:t>
            </a:r>
            <a:r>
              <a:rPr lang="bg-BG" dirty="0">
                <a:latin typeface="Amasis MT Pro" panose="02040504050005020304" pitchFamily="18" charset="0"/>
              </a:rPr>
              <a:t>За реализирането използваме микроконтролер </a:t>
            </a:r>
            <a:r>
              <a:rPr lang="en-US" dirty="0">
                <a:latin typeface="Amasis MT Pro" panose="02040504050005020304" pitchFamily="18" charset="0"/>
              </a:rPr>
              <a:t>STM32</a:t>
            </a:r>
            <a:r>
              <a:rPr lang="en" dirty="0">
                <a:latin typeface="Amasis MT Pro" panose="02040504050005020304" pitchFamily="18" charset="0"/>
              </a:rPr>
              <a:t>.</a:t>
            </a:r>
            <a:endParaRPr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latin typeface="Amasis MT Pro" panose="02040504050005020304" pitchFamily="18" charset="0"/>
              </a:rPr>
              <a:t>• Интеграция на светлинна индикация и обратна връзка.</a:t>
            </a:r>
            <a:endParaRPr dirty="0">
              <a:latin typeface="Amasis MT Pro" panose="020405040500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masis MT Pro" panose="02040504050005020304" pitchFamily="18" charset="0"/>
              </a:rPr>
              <a:t>Хардуер</a:t>
            </a:r>
            <a:endParaRPr dirty="0">
              <a:latin typeface="Amasis MT Pro" panose="02040504050005020304" pitchFamily="18" charset="0"/>
            </a:endParaRPr>
          </a:p>
        </p:txBody>
      </p:sp>
      <p:sp>
        <p:nvSpPr>
          <p:cNvPr id="141" name="Google Shape;141;p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• </a:t>
            </a:r>
            <a:r>
              <a:rPr lang="en" dirty="0">
                <a:latin typeface="Amasis MT Pro" panose="02040504050005020304" pitchFamily="18" charset="0"/>
              </a:rPr>
              <a:t>Контролер: STM32.</a:t>
            </a:r>
            <a:endParaRPr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latin typeface="Amasis MT Pro" panose="02040504050005020304" pitchFamily="18" charset="0"/>
              </a:rPr>
              <a:t>• Захранване: +12V (Силово) и +3.3V (Логическо).</a:t>
            </a:r>
            <a:endParaRPr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latin typeface="Amasis MT Pro" panose="02040504050005020304" pitchFamily="18" charset="0"/>
              </a:rPr>
              <a:t>• Драйвери :</a:t>
            </a:r>
            <a:endParaRPr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latin typeface="Amasis MT Pro" panose="02040504050005020304" pitchFamily="18" charset="0"/>
              </a:rPr>
              <a:t>   - Драйвер 1: Управ</a:t>
            </a:r>
            <a:r>
              <a:rPr lang="bg-BG" dirty="0">
                <a:latin typeface="Amasis MT Pro" panose="02040504050005020304" pitchFamily="18" charset="0"/>
              </a:rPr>
              <a:t>лява </a:t>
            </a:r>
            <a:r>
              <a:rPr lang="en" dirty="0">
                <a:latin typeface="Amasis MT Pro" panose="02040504050005020304" pitchFamily="18" charset="0"/>
              </a:rPr>
              <a:t>мигач</a:t>
            </a:r>
            <a:r>
              <a:rPr lang="bg-BG" dirty="0">
                <a:latin typeface="Amasis MT Pro" panose="02040504050005020304" pitchFamily="18" charset="0"/>
              </a:rPr>
              <a:t>а</a:t>
            </a:r>
            <a:r>
              <a:rPr lang="en" dirty="0">
                <a:latin typeface="Amasis MT Pro" panose="02040504050005020304" pitchFamily="18" charset="0"/>
              </a:rPr>
              <a:t>.</a:t>
            </a:r>
            <a:endParaRPr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latin typeface="Amasis MT Pro" panose="02040504050005020304" pitchFamily="18" charset="0"/>
              </a:rPr>
              <a:t>   - Драйвер 2: Движ</a:t>
            </a:r>
            <a:r>
              <a:rPr lang="bg-BG" dirty="0">
                <a:latin typeface="Amasis MT Pro" panose="02040504050005020304" pitchFamily="18" charset="0"/>
              </a:rPr>
              <a:t>и</a:t>
            </a:r>
            <a:r>
              <a:rPr lang="en" dirty="0">
                <a:latin typeface="Amasis MT Pro" panose="02040504050005020304" pitchFamily="18" charset="0"/>
              </a:rPr>
              <a:t> по хоризонтала (Мотор 1).</a:t>
            </a:r>
            <a:endParaRPr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latin typeface="Amasis MT Pro" panose="02040504050005020304" pitchFamily="18" charset="0"/>
              </a:rPr>
              <a:t>   - Драйвер 3: Движ</a:t>
            </a:r>
            <a:r>
              <a:rPr lang="bg-BG" dirty="0">
                <a:latin typeface="Amasis MT Pro" panose="02040504050005020304" pitchFamily="18" charset="0"/>
              </a:rPr>
              <a:t>и</a:t>
            </a:r>
            <a:r>
              <a:rPr lang="en" dirty="0">
                <a:latin typeface="Amasis MT Pro" panose="02040504050005020304" pitchFamily="18" charset="0"/>
              </a:rPr>
              <a:t> по вертикала (Мотор 2).</a:t>
            </a:r>
            <a:endParaRPr dirty="0">
              <a:latin typeface="Amasis MT Pro" panose="020405040500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masis MT Pro" panose="02040504050005020304" pitchFamily="18" charset="0"/>
              </a:rPr>
              <a:t>Схема на обратната връзка</a:t>
            </a:r>
            <a:endParaRPr dirty="0">
              <a:latin typeface="Amasis MT Pro" panose="02040504050005020304" pitchFamily="18" charset="0"/>
            </a:endParaRPr>
          </a:p>
        </p:txBody>
      </p:sp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• </a:t>
            </a:r>
            <a:r>
              <a:rPr lang="en" dirty="0">
                <a:latin typeface="Amasis MT Pro" panose="02040504050005020304" pitchFamily="18" charset="0"/>
              </a:rPr>
              <a:t>Цел: Следене на позицията на огледалото.</a:t>
            </a:r>
            <a:endParaRPr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latin typeface="Amasis MT Pro" panose="02040504050005020304" pitchFamily="18" charset="0"/>
              </a:rPr>
              <a:t>• Метод: Делители на напрежение на изходите на моторите (Out_A/Out_B).</a:t>
            </a:r>
            <a:endParaRPr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latin typeface="Amasis MT Pro" panose="02040504050005020304" pitchFamily="18" charset="0"/>
              </a:rPr>
              <a:t>• Отчитане: Аналогови входове PA2 и PA3 на STM32.</a:t>
            </a:r>
            <a:endParaRPr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latin typeface="Amasis MT Pro" panose="02040504050005020304" pitchFamily="18" charset="0"/>
              </a:rPr>
              <a:t>• При движение на мотора, напрежението към ADC се променя.</a:t>
            </a:r>
            <a:endParaRPr dirty="0">
              <a:latin typeface="Amasis MT Pro" panose="020405040500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masis MT Pro" panose="02040504050005020304" pitchFamily="18" charset="0"/>
              </a:rPr>
              <a:t>Софтуерна архитектура (FreeRTOS)</a:t>
            </a:r>
            <a:endParaRPr dirty="0">
              <a:latin typeface="Amasis MT Pro" panose="02040504050005020304" pitchFamily="18" charset="0"/>
            </a:endParaRPr>
          </a:p>
        </p:txBody>
      </p:sp>
      <p:sp>
        <p:nvSpPr>
          <p:cNvPr id="153" name="Google Shape;153;p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masis MT Pro" panose="02040504050005020304" pitchFamily="18" charset="0"/>
              </a:rPr>
              <a:t>Кодът е структуриран в две основни задачи (Threads):</a:t>
            </a:r>
            <a:endParaRPr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latin typeface="Amasis MT Pro" panose="02040504050005020304" pitchFamily="18" charset="0"/>
              </a:rPr>
              <a:t>1. StartTask02 (Input Task):</a:t>
            </a:r>
            <a:endParaRPr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latin typeface="Amasis MT Pro" panose="02040504050005020304" pitchFamily="18" charset="0"/>
              </a:rPr>
              <a:t>   - Чете състоянието на бутоните.</a:t>
            </a:r>
            <a:endParaRPr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latin typeface="Amasis MT Pro" panose="02040504050005020304" pitchFamily="18" charset="0"/>
              </a:rPr>
              <a:t>   - Обработва входните сигнали (Debouncing).</a:t>
            </a:r>
            <a:endParaRPr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latin typeface="Amasis MT Pro" panose="02040504050005020304" pitchFamily="18" charset="0"/>
              </a:rPr>
              <a:t>2. StartDefaultTask (Output Task):</a:t>
            </a:r>
            <a:endParaRPr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latin typeface="Amasis MT Pro" panose="02040504050005020304" pitchFamily="18" charset="0"/>
              </a:rPr>
              <a:t>   - Приема командите от глобалните променливи.</a:t>
            </a:r>
            <a:endParaRPr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latin typeface="Amasis MT Pro" panose="02040504050005020304" pitchFamily="18" charset="0"/>
              </a:rPr>
              <a:t>   - Управлява физическите пинове към драйверите.</a:t>
            </a:r>
            <a:endParaRPr dirty="0">
              <a:latin typeface="Amasis MT Pro" panose="020405040500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masis MT Pro" panose="02040504050005020304" pitchFamily="18" charset="0"/>
              </a:rPr>
              <a:t>Обработка на входове (Task 02)</a:t>
            </a:r>
            <a:endParaRPr dirty="0">
              <a:latin typeface="Amasis MT Pro" panose="02040504050005020304" pitchFamily="18" charset="0"/>
            </a:endParaRPr>
          </a:p>
        </p:txBody>
      </p:sp>
      <p:sp>
        <p:nvSpPr>
          <p:cNvPr id="159" name="Google Shape;159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• </a:t>
            </a:r>
            <a:r>
              <a:rPr lang="en" dirty="0">
                <a:latin typeface="Amasis MT Pro" panose="02040504050005020304" pitchFamily="18" charset="0"/>
              </a:rPr>
              <a:t>Четене на пинове: PC4 (Ляво), PB2 (Дясно), PB10 (Горе), PC5 (Долу).</a:t>
            </a:r>
            <a:endParaRPr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latin typeface="Amasis MT Pro" panose="02040504050005020304" pitchFamily="18" charset="0"/>
              </a:rPr>
              <a:t>• Логика: if (HAL_GPIO_ReadPin(...) == 0)</a:t>
            </a:r>
            <a:endParaRPr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dirty="0">
                <a:latin typeface="Amasis MT Pro" panose="02040504050005020304" pitchFamily="18" charset="0"/>
              </a:rPr>
              <a:t>• Защита от шум: HAL_Delay(500) за предотвратяване на фалшиви сработвания.</a:t>
            </a:r>
            <a:endParaRPr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latin typeface="Amasis MT Pro" panose="02040504050005020304" pitchFamily="18" charset="0"/>
              </a:rPr>
              <a:t>• Резултат: Вдигане на флагове: moveleft, moveright, moveup, movedown.</a:t>
            </a:r>
            <a:endParaRPr dirty="0">
              <a:latin typeface="Amasis MT Pro" panose="020405040500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masis MT Pro" panose="02040504050005020304" pitchFamily="18" charset="0"/>
                <a:cs typeface="Aldhabi" panose="01000000000000000000" pitchFamily="2" charset="-78"/>
              </a:rPr>
              <a:t>Управление на мотори </a:t>
            </a:r>
            <a:br>
              <a:rPr lang="en" dirty="0">
                <a:latin typeface="Amasis MT Pro" panose="02040504050005020304" pitchFamily="18" charset="0"/>
                <a:cs typeface="Aldhabi" panose="01000000000000000000" pitchFamily="2" charset="-78"/>
              </a:rPr>
            </a:br>
            <a:r>
              <a:rPr lang="en" dirty="0">
                <a:latin typeface="Amasis MT Pro" panose="02040504050005020304" pitchFamily="18" charset="0"/>
                <a:cs typeface="Aldhabi" panose="01000000000000000000" pitchFamily="2" charset="-78"/>
              </a:rPr>
              <a:t>(Default Task)</a:t>
            </a:r>
            <a:endParaRPr dirty="0">
              <a:latin typeface="Amasis MT Pro" panose="02040504050005020304" pitchFamily="18" charset="0"/>
              <a:cs typeface="Aldhabi" panose="01000000000000000000" pitchFamily="2" charset="-78"/>
            </a:endParaRPr>
          </a:p>
        </p:txBody>
      </p:sp>
      <p:sp>
        <p:nvSpPr>
          <p:cNvPr id="165" name="Google Shape;165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1200"/>
              </a:spcBef>
              <a:buNone/>
            </a:pPr>
            <a:r>
              <a:rPr lang="en" dirty="0">
                <a:latin typeface="Amasis MT Pro" panose="02040504050005020304" pitchFamily="18" charset="0"/>
                <a:cs typeface="Aldhabi" panose="01000000000000000000" pitchFamily="2" charset="-78"/>
              </a:rPr>
              <a:t>• </a:t>
            </a:r>
            <a:r>
              <a:rPr lang="ru-RU" dirty="0" err="1">
                <a:latin typeface="Amasis MT Pro" panose="02040504050005020304" pitchFamily="18" charset="0"/>
                <a:cs typeface="Aldhabi" panose="01000000000000000000" pitchFamily="2" charset="-78"/>
              </a:rPr>
              <a:t>Портовете</a:t>
            </a:r>
            <a:r>
              <a:rPr lang="ru-RU" dirty="0">
                <a:latin typeface="Amasis MT Pro" panose="02040504050005020304" pitchFamily="18" charset="0"/>
                <a:cs typeface="Aldhabi" panose="01000000000000000000" pitchFamily="2" charset="-78"/>
              </a:rPr>
              <a:t> F (PF0/PF1) и С (PC0/PC1) </a:t>
            </a:r>
            <a:r>
              <a:rPr lang="ru-RU" dirty="0" err="1">
                <a:latin typeface="Amasis MT Pro" panose="02040504050005020304" pitchFamily="18" charset="0"/>
                <a:cs typeface="Aldhabi" panose="01000000000000000000" pitchFamily="2" charset="-78"/>
              </a:rPr>
              <a:t>управляваt</a:t>
            </a:r>
            <a:r>
              <a:rPr lang="ru-RU" dirty="0">
                <a:latin typeface="Amasis MT Pro" panose="02040504050005020304" pitchFamily="18" charset="0"/>
                <a:cs typeface="Aldhabi" panose="01000000000000000000" pitchFamily="2" charset="-78"/>
              </a:rPr>
              <a:t> </a:t>
            </a:r>
            <a:r>
              <a:rPr lang="ru-RU" dirty="0" err="1">
                <a:latin typeface="Amasis MT Pro" panose="02040504050005020304" pitchFamily="18" charset="0"/>
                <a:cs typeface="Aldhabi" panose="01000000000000000000" pitchFamily="2" charset="-78"/>
              </a:rPr>
              <a:t>движението</a:t>
            </a:r>
            <a:r>
              <a:rPr lang="ru-RU" dirty="0">
                <a:latin typeface="Amasis MT Pro" panose="02040504050005020304" pitchFamily="18" charset="0"/>
                <a:cs typeface="Aldhabi" panose="01000000000000000000" pitchFamily="2" charset="-78"/>
              </a:rPr>
              <a:t> </a:t>
            </a:r>
            <a:r>
              <a:rPr lang="ru-RU" dirty="0" err="1">
                <a:latin typeface="Amasis MT Pro" panose="02040504050005020304" pitchFamily="18" charset="0"/>
                <a:cs typeface="Aldhabi" panose="01000000000000000000" pitchFamily="2" charset="-78"/>
              </a:rPr>
              <a:t>ляво</a:t>
            </a:r>
            <a:r>
              <a:rPr lang="ru-RU" dirty="0">
                <a:latin typeface="Amasis MT Pro" panose="02040504050005020304" pitchFamily="18" charset="0"/>
                <a:cs typeface="Aldhabi" panose="01000000000000000000" pitchFamily="2" charset="-78"/>
              </a:rPr>
              <a:t>/</a:t>
            </a:r>
            <a:r>
              <a:rPr lang="ru-RU" dirty="0" err="1">
                <a:latin typeface="Amasis MT Pro" panose="02040504050005020304" pitchFamily="18" charset="0"/>
                <a:cs typeface="Aldhabi" panose="01000000000000000000" pitchFamily="2" charset="-78"/>
              </a:rPr>
              <a:t>дясно</a:t>
            </a:r>
            <a:r>
              <a:rPr lang="ru-RU" dirty="0">
                <a:latin typeface="Amasis MT Pro" panose="02040504050005020304" pitchFamily="18" charset="0"/>
                <a:cs typeface="Aldhabi" panose="01000000000000000000" pitchFamily="2" charset="-78"/>
              </a:rPr>
              <a:t>.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en" dirty="0">
                <a:latin typeface="Amasis MT Pro" panose="02040504050005020304" pitchFamily="18" charset="0"/>
                <a:cs typeface="Aldhabi" panose="01000000000000000000" pitchFamily="2" charset="-78"/>
              </a:rPr>
              <a:t>• </a:t>
            </a:r>
            <a:r>
              <a:rPr lang="ru-RU" dirty="0" err="1">
                <a:latin typeface="Amasis MT Pro" panose="02040504050005020304" pitchFamily="18" charset="0"/>
                <a:cs typeface="Aldhabi" panose="01000000000000000000" pitchFamily="2" charset="-78"/>
              </a:rPr>
              <a:t>Портът</a:t>
            </a:r>
            <a:r>
              <a:rPr lang="ru-RU" dirty="0">
                <a:latin typeface="Amasis MT Pro" panose="02040504050005020304" pitchFamily="18" charset="0"/>
                <a:cs typeface="Aldhabi" panose="01000000000000000000" pitchFamily="2" charset="-78"/>
              </a:rPr>
              <a:t> В (PB5, PB7, PB8, PB9) </a:t>
            </a:r>
            <a:r>
              <a:rPr lang="ru-RU" dirty="0" err="1">
                <a:latin typeface="Amasis MT Pro" panose="02040504050005020304" pitchFamily="18" charset="0"/>
                <a:cs typeface="Aldhabi" panose="01000000000000000000" pitchFamily="2" charset="-78"/>
              </a:rPr>
              <a:t>управлява</a:t>
            </a:r>
            <a:r>
              <a:rPr lang="ru-RU" dirty="0">
                <a:latin typeface="Amasis MT Pro" panose="02040504050005020304" pitchFamily="18" charset="0"/>
                <a:cs typeface="Aldhabi" panose="01000000000000000000" pitchFamily="2" charset="-78"/>
              </a:rPr>
              <a:t> </a:t>
            </a:r>
            <a:r>
              <a:rPr lang="ru-RU" dirty="0" err="1">
                <a:latin typeface="Amasis MT Pro" panose="02040504050005020304" pitchFamily="18" charset="0"/>
                <a:cs typeface="Aldhabi" panose="01000000000000000000" pitchFamily="2" charset="-78"/>
              </a:rPr>
              <a:t>движението</a:t>
            </a:r>
            <a:r>
              <a:rPr lang="ru-RU" dirty="0">
                <a:latin typeface="Amasis MT Pro" panose="02040504050005020304" pitchFamily="18" charset="0"/>
                <a:cs typeface="Aldhabi" panose="01000000000000000000" pitchFamily="2" charset="-78"/>
              </a:rPr>
              <a:t> горе/долу.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en" dirty="0">
                <a:latin typeface="Amasis MT Pro" panose="02040504050005020304" pitchFamily="18" charset="0"/>
                <a:cs typeface="Aldhabi" panose="01000000000000000000" pitchFamily="2" charset="-78"/>
              </a:rPr>
              <a:t>• </a:t>
            </a:r>
            <a:r>
              <a:rPr lang="ru-RU" dirty="0">
                <a:latin typeface="Amasis MT Pro" panose="02040504050005020304" pitchFamily="18" charset="0"/>
                <a:cs typeface="Aldhabi" panose="01000000000000000000" pitchFamily="2" charset="-78"/>
              </a:rPr>
              <a:t>За </a:t>
            </a:r>
            <a:r>
              <a:rPr lang="ru-RU" dirty="0" err="1">
                <a:latin typeface="Amasis MT Pro" panose="02040504050005020304" pitchFamily="18" charset="0"/>
                <a:cs typeface="Aldhabi" panose="01000000000000000000" pitchFamily="2" charset="-78"/>
              </a:rPr>
              <a:t>безопасност</a:t>
            </a:r>
            <a:r>
              <a:rPr lang="ru-RU" dirty="0">
                <a:latin typeface="Amasis MT Pro" panose="02040504050005020304" pitchFamily="18" charset="0"/>
                <a:cs typeface="Aldhabi" panose="01000000000000000000" pitchFamily="2" charset="-78"/>
              </a:rPr>
              <a:t> </a:t>
            </a:r>
            <a:r>
              <a:rPr lang="ru-RU" dirty="0" err="1">
                <a:latin typeface="Amasis MT Pro" panose="02040504050005020304" pitchFamily="18" charset="0"/>
                <a:cs typeface="Aldhabi" panose="01000000000000000000" pitchFamily="2" charset="-78"/>
              </a:rPr>
              <a:t>управляващите</a:t>
            </a:r>
            <a:r>
              <a:rPr lang="ru-RU" dirty="0">
                <a:latin typeface="Amasis MT Pro" panose="02040504050005020304" pitchFamily="18" charset="0"/>
                <a:cs typeface="Aldhabi" panose="01000000000000000000" pitchFamily="2" charset="-78"/>
              </a:rPr>
              <a:t> </a:t>
            </a:r>
            <a:r>
              <a:rPr lang="ru-RU" dirty="0" err="1">
                <a:latin typeface="Amasis MT Pro" panose="02040504050005020304" pitchFamily="18" charset="0"/>
                <a:cs typeface="Aldhabi" panose="01000000000000000000" pitchFamily="2" charset="-78"/>
              </a:rPr>
              <a:t>пинове</a:t>
            </a:r>
            <a:r>
              <a:rPr lang="ru-RU" dirty="0">
                <a:latin typeface="Amasis MT Pro" panose="02040504050005020304" pitchFamily="18" charset="0"/>
                <a:cs typeface="Aldhabi" panose="01000000000000000000" pitchFamily="2" charset="-78"/>
              </a:rPr>
              <a:t> се </a:t>
            </a:r>
            <a:r>
              <a:rPr lang="ru-RU" dirty="0" err="1">
                <a:latin typeface="Amasis MT Pro" panose="02040504050005020304" pitchFamily="18" charset="0"/>
                <a:cs typeface="Aldhabi" panose="01000000000000000000" pitchFamily="2" charset="-78"/>
              </a:rPr>
              <a:t>нулират</a:t>
            </a:r>
            <a:r>
              <a:rPr lang="ru-RU" dirty="0">
                <a:latin typeface="Amasis MT Pro" panose="02040504050005020304" pitchFamily="18" charset="0"/>
                <a:cs typeface="Aldhabi" panose="01000000000000000000" pitchFamily="2" charset="-78"/>
              </a:rPr>
              <a:t>, </a:t>
            </a:r>
            <a:r>
              <a:rPr lang="ru-RU" dirty="0" err="1">
                <a:latin typeface="Amasis MT Pro" panose="02040504050005020304" pitchFamily="18" charset="0"/>
                <a:cs typeface="Aldhabi" panose="01000000000000000000" pitchFamily="2" charset="-78"/>
              </a:rPr>
              <a:t>когато</a:t>
            </a:r>
            <a:r>
              <a:rPr lang="ru-RU" dirty="0">
                <a:latin typeface="Amasis MT Pro" panose="02040504050005020304" pitchFamily="18" charset="0"/>
                <a:cs typeface="Aldhabi" panose="01000000000000000000" pitchFamily="2" charset="-78"/>
              </a:rPr>
              <a:t> никой от </a:t>
            </a:r>
            <a:r>
              <a:rPr lang="ru-RU" dirty="0" err="1">
                <a:latin typeface="Amasis MT Pro" panose="02040504050005020304" pitchFamily="18" charset="0"/>
                <a:cs typeface="Aldhabi" panose="01000000000000000000" pitchFamily="2" charset="-78"/>
              </a:rPr>
              <a:t>бутоните</a:t>
            </a:r>
            <a:r>
              <a:rPr lang="ru-RU" dirty="0">
                <a:latin typeface="Amasis MT Pro" panose="02040504050005020304" pitchFamily="18" charset="0"/>
                <a:cs typeface="Aldhabi" panose="01000000000000000000" pitchFamily="2" charset="-78"/>
              </a:rPr>
              <a:t> не е </a:t>
            </a:r>
            <a:r>
              <a:rPr lang="ru-RU" dirty="0" err="1">
                <a:latin typeface="Amasis MT Pro" panose="02040504050005020304" pitchFamily="18" charset="0"/>
                <a:cs typeface="Aldhabi" panose="01000000000000000000" pitchFamily="2" charset="-78"/>
              </a:rPr>
              <a:t>натиснат</a:t>
            </a:r>
            <a:r>
              <a:rPr lang="ru-RU" dirty="0">
                <a:latin typeface="Amasis MT Pro" panose="02040504050005020304" pitchFamily="18" charset="0"/>
                <a:cs typeface="Aldhabi" panose="01000000000000000000" pitchFamily="2" charset="-78"/>
              </a:rPr>
              <a:t> (</a:t>
            </a:r>
            <a:r>
              <a:rPr lang="ru-RU" dirty="0" err="1">
                <a:latin typeface="Amasis MT Pro" panose="02040504050005020304" pitchFamily="18" charset="0"/>
                <a:cs typeface="Aldhabi" panose="01000000000000000000" pitchFamily="2" charset="-78"/>
              </a:rPr>
              <a:t>Idle</a:t>
            </a:r>
            <a:r>
              <a:rPr lang="ru-RU" dirty="0">
                <a:latin typeface="Amasis MT Pro" panose="02040504050005020304" pitchFamily="18" charset="0"/>
                <a:cs typeface="Aldhabi" panose="01000000000000000000" pitchFamily="2" charset="-78"/>
              </a:rPr>
              <a:t> </a:t>
            </a:r>
            <a:r>
              <a:rPr lang="ru-RU" dirty="0" err="1">
                <a:latin typeface="Amasis MT Pro" panose="02040504050005020304" pitchFamily="18" charset="0"/>
                <a:cs typeface="Aldhabi" panose="01000000000000000000" pitchFamily="2" charset="-78"/>
              </a:rPr>
              <a:t>state</a:t>
            </a:r>
            <a:r>
              <a:rPr lang="ru-RU" dirty="0">
                <a:latin typeface="Amasis MT Pro" panose="02040504050005020304" pitchFamily="18" charset="0"/>
                <a:cs typeface="Aldhabi" panose="01000000000000000000" pitchFamily="2" charset="-78"/>
              </a:rPr>
              <a:t>).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>
                <a:latin typeface="Amasis MT Pro" panose="02040504050005020304" pitchFamily="18" charset="0"/>
                <a:cs typeface="Aldhabi" panose="01000000000000000000" pitchFamily="2" charset="-78"/>
              </a:rPr>
              <a:t>• </a:t>
            </a:r>
            <a:r>
              <a:rPr lang="ru-RU" dirty="0">
                <a:latin typeface="Amasis MT Pro" panose="02040504050005020304" pitchFamily="18" charset="0"/>
                <a:cs typeface="Aldhabi" panose="01000000000000000000" pitchFamily="2" charset="-78"/>
              </a:rPr>
              <a:t>Имаме '</a:t>
            </a:r>
            <a:r>
              <a:rPr lang="ru-RU" dirty="0" err="1">
                <a:latin typeface="Amasis MT Pro" panose="02040504050005020304" pitchFamily="18" charset="0"/>
                <a:cs typeface="Aldhabi" panose="01000000000000000000" pitchFamily="2" charset="-78"/>
              </a:rPr>
              <a:t>state</a:t>
            </a:r>
            <a:r>
              <a:rPr lang="ru-RU" dirty="0">
                <a:latin typeface="Amasis MT Pro" panose="02040504050005020304" pitchFamily="18" charset="0"/>
                <a:cs typeface="Aldhabi" panose="01000000000000000000" pitchFamily="2" charset="-78"/>
              </a:rPr>
              <a:t>' </a:t>
            </a:r>
            <a:r>
              <a:rPr lang="ru-RU" dirty="0" err="1">
                <a:latin typeface="Amasis MT Pro" panose="02040504050005020304" pitchFamily="18" charset="0"/>
                <a:cs typeface="Aldhabi" panose="01000000000000000000" pitchFamily="2" charset="-78"/>
              </a:rPr>
              <a:t>променлива</a:t>
            </a:r>
            <a:r>
              <a:rPr lang="ru-RU" dirty="0">
                <a:latin typeface="Amasis MT Pro" panose="02040504050005020304" pitchFamily="18" charset="0"/>
                <a:cs typeface="Aldhabi" panose="01000000000000000000" pitchFamily="2" charset="-78"/>
              </a:rPr>
              <a:t> за </a:t>
            </a:r>
            <a:r>
              <a:rPr lang="ru-RU" dirty="0" err="1">
                <a:latin typeface="Amasis MT Pro" panose="02040504050005020304" pitchFamily="18" charset="0"/>
                <a:cs typeface="Aldhabi" panose="01000000000000000000" pitchFamily="2" charset="-78"/>
              </a:rPr>
              <a:t>ревключване</a:t>
            </a:r>
            <a:r>
              <a:rPr lang="ru-RU" dirty="0">
                <a:latin typeface="Amasis MT Pro" panose="02040504050005020304" pitchFamily="18" charset="0"/>
                <a:cs typeface="Aldhabi" panose="01000000000000000000" pitchFamily="2" charset="-78"/>
              </a:rPr>
              <a:t> на </a:t>
            </a:r>
            <a:r>
              <a:rPr lang="ru-RU" dirty="0" err="1">
                <a:latin typeface="Amasis MT Pro" panose="02040504050005020304" pitchFamily="18" charset="0"/>
                <a:cs typeface="Aldhabi" panose="01000000000000000000" pitchFamily="2" charset="-78"/>
              </a:rPr>
              <a:t>състояние</a:t>
            </a:r>
            <a:endParaRPr lang="ru-RU" dirty="0">
              <a:latin typeface="Amasis MT Pro" panose="02040504050005020304" pitchFamily="18" charset="0"/>
              <a:cs typeface="Aldhabi" panose="01000000000000000000" pitchFamily="2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>
            <a:spLocks noGrp="1"/>
          </p:cNvSpPr>
          <p:nvPr>
            <p:ph type="title"/>
          </p:nvPr>
        </p:nvSpPr>
        <p:spPr>
          <a:xfrm>
            <a:off x="3910200" y="372665"/>
            <a:ext cx="1323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С</a:t>
            </a:r>
            <a:r>
              <a:rPr lang="en" dirty="0">
                <a:latin typeface="Amasis MT Pro" panose="02040504050005020304" pitchFamily="18" charset="0"/>
              </a:rPr>
              <a:t>хема</a:t>
            </a:r>
            <a:endParaRPr dirty="0">
              <a:latin typeface="Amasis MT Pro" panose="02040504050005020304" pitchFamily="18" charset="0"/>
            </a:endParaRPr>
          </a:p>
        </p:txBody>
      </p:sp>
      <p:pic>
        <p:nvPicPr>
          <p:cNvPr id="3" name="Картина 2" descr="Картина, която съдържа диаграма, План, Техническо чертане, схематичен&#10;&#10;Генерираното от ИИ съдържание може да е неправилно.">
            <a:extLst>
              <a:ext uri="{FF2B5EF4-FFF2-40B4-BE49-F238E27FC236}">
                <a16:creationId xmlns:a16="http://schemas.microsoft.com/office/drawing/2014/main" id="{E58EF992-D177-3076-693E-080315E09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1433" y="1141441"/>
            <a:ext cx="5621134" cy="36293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1"/>
          <p:cNvSpPr txBox="1">
            <a:spLocks noGrp="1"/>
          </p:cNvSpPr>
          <p:nvPr>
            <p:ph type="title"/>
          </p:nvPr>
        </p:nvSpPr>
        <p:spPr>
          <a:xfrm>
            <a:off x="2928983" y="132858"/>
            <a:ext cx="3286033" cy="9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latin typeface="Amasis MT Pro" panose="02040504050005020304" pitchFamily="18" charset="0"/>
              </a:rPr>
              <a:t>Логическа схема</a:t>
            </a:r>
            <a:endParaRPr dirty="0">
              <a:latin typeface="Amasis MT Pro" panose="02040504050005020304" pitchFamily="18" charset="0"/>
            </a:endParaRPr>
          </a:p>
        </p:txBody>
      </p:sp>
      <p:pic>
        <p:nvPicPr>
          <p:cNvPr id="177" name="Google Shape;177;p21" title="ulm diagram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2130" y="766274"/>
            <a:ext cx="4559740" cy="4318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Amasis MT Pro" panose="02040504050005020304" pitchFamily="18" charset="0"/>
              </a:rPr>
              <a:t>Заключение</a:t>
            </a:r>
            <a:endParaRPr dirty="0">
              <a:latin typeface="Amasis MT Pro" panose="02040504050005020304" pitchFamily="18" charset="0"/>
            </a:endParaRPr>
          </a:p>
        </p:txBody>
      </p:sp>
      <p:sp>
        <p:nvSpPr>
          <p:cNvPr id="183" name="Google Shape;183;p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• </a:t>
            </a:r>
            <a:r>
              <a:rPr lang="bg-BG" sz="1600" dirty="0"/>
              <a:t>У</a:t>
            </a:r>
            <a:r>
              <a:rPr lang="en" sz="1600" dirty="0">
                <a:latin typeface="Amasis MT Pro" panose="02040504050005020304" pitchFamily="18" charset="0"/>
              </a:rPr>
              <a:t>спешно</a:t>
            </a:r>
            <a:r>
              <a:rPr lang="bg-BG" sz="1600" dirty="0">
                <a:latin typeface="Amasis MT Pro" panose="02040504050005020304" pitchFamily="18" charset="0"/>
              </a:rPr>
              <a:t> реализираме </a:t>
            </a:r>
            <a:r>
              <a:rPr lang="en" sz="1600" dirty="0">
                <a:latin typeface="Amasis MT Pro" panose="02040504050005020304" pitchFamily="18" charset="0"/>
              </a:rPr>
              <a:t>управлениеt</a:t>
            </a:r>
            <a:r>
              <a:rPr lang="bg-BG" sz="1600" dirty="0">
                <a:latin typeface="Amasis MT Pro" panose="02040504050005020304" pitchFamily="18" charset="0"/>
              </a:rPr>
              <a:t>о и движението </a:t>
            </a:r>
            <a:r>
              <a:rPr lang="en" sz="1600" dirty="0">
                <a:latin typeface="Amasis MT Pro" panose="02040504050005020304" pitchFamily="18" charset="0"/>
              </a:rPr>
              <a:t>на огледало</a:t>
            </a:r>
            <a:r>
              <a:rPr lang="bg-BG" sz="1600" dirty="0">
                <a:latin typeface="Amasis MT Pro" panose="02040504050005020304" pitchFamily="18" charset="0"/>
              </a:rPr>
              <a:t>то</a:t>
            </a:r>
            <a:r>
              <a:rPr lang="en" sz="1600" dirty="0">
                <a:latin typeface="Amasis MT Pro" panose="02040504050005020304" pitchFamily="18" charset="0"/>
              </a:rPr>
              <a:t> по двe</a:t>
            </a:r>
            <a:r>
              <a:rPr lang="en-US" sz="1600" dirty="0" err="1">
                <a:latin typeface="Amasis MT Pro" panose="02040504050005020304" pitchFamily="18" charset="0"/>
              </a:rPr>
              <a:t>te</a:t>
            </a:r>
            <a:r>
              <a:rPr lang="en" sz="1600" dirty="0">
                <a:latin typeface="Amasis MT Pro" panose="02040504050005020304" pitchFamily="18" charset="0"/>
              </a:rPr>
              <a:t> оси</a:t>
            </a:r>
            <a:r>
              <a:rPr lang="bg-BG" sz="1600" dirty="0">
                <a:latin typeface="Amasis MT Pro" panose="02040504050005020304" pitchFamily="18" charset="0"/>
              </a:rPr>
              <a:t> (Х и У)</a:t>
            </a:r>
            <a:r>
              <a:rPr lang="en" sz="1600" dirty="0">
                <a:latin typeface="Amasis MT Pro" panose="02040504050005020304" pitchFamily="18" charset="0"/>
              </a:rPr>
              <a:t>.</a:t>
            </a:r>
            <a:endParaRPr sz="1600" dirty="0">
              <a:latin typeface="Amasis MT Pro" panose="020405040500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Мрежа">
  <a:themeElements>
    <a:clrScheme name="Мрежа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Мрежа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Мрежа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11</TotalTime>
  <Words>414</Words>
  <Application>Microsoft Office PowerPoint</Application>
  <PresentationFormat>Презентация на цял екран (16:9)</PresentationFormat>
  <Paragraphs>43</Paragraphs>
  <Slides>10</Slides>
  <Notes>10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10</vt:i4>
      </vt:variant>
    </vt:vector>
  </HeadingPairs>
  <TitlesOfParts>
    <vt:vector size="15" baseType="lpstr">
      <vt:lpstr>Amasis MT Pro</vt:lpstr>
      <vt:lpstr>Arial</vt:lpstr>
      <vt:lpstr>Aldhabi</vt:lpstr>
      <vt:lpstr>Century Gothic</vt:lpstr>
      <vt:lpstr>Мрежа</vt:lpstr>
      <vt:lpstr>Система за управление на подвижно огледало</vt:lpstr>
      <vt:lpstr>Цел на проекта</vt:lpstr>
      <vt:lpstr>Хардуер</vt:lpstr>
      <vt:lpstr>Схема на обратната връзка</vt:lpstr>
      <vt:lpstr>Софтуерна архитектура (FreeRTOS)</vt:lpstr>
      <vt:lpstr>Обработка на входове (Task 02)</vt:lpstr>
      <vt:lpstr>Управление на мотори  (Default Task)</vt:lpstr>
      <vt:lpstr>Схема</vt:lpstr>
      <vt:lpstr>Логическа схема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Borislav Baychev</cp:lastModifiedBy>
  <cp:revision>3</cp:revision>
  <dcterms:modified xsi:type="dcterms:W3CDTF">2025-12-18T23:59:59Z</dcterms:modified>
</cp:coreProperties>
</file>